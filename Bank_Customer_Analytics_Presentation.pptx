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Gender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565C0"/>
              </a:solidFill>
              <a:effectLst/>
            </c:spPr>
          </c:dPt>
          <c:dPt>
            <c:idx val="1"/>
            <c:bubble3D val="0"/>
            <c:spPr>
              <a:solidFill>
                <a:srgbClr val="F9A825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Male (86.7%)</c:v>
                </c:pt>
                <c:pt idx="1">
                  <c:v>Female (31.9%)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765530</c:v>
                </c:pt>
                <c:pt idx="1">
                  <c:v>281936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rgbClr val="1565C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D1B3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Under 25</c:v>
                  </c:pt>
                  <c:pt idx="1">
                    <c:v>25–34</c:v>
                  </c:pt>
                  <c:pt idx="2">
                    <c:v>35–44</c:v>
                  </c:pt>
                  <c:pt idx="3">
                    <c:v>45–54</c:v>
                  </c:pt>
                  <c:pt idx="4">
                    <c:v>55–64</c:v>
                  </c:pt>
                  <c:pt idx="5">
                    <c:v>65+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220990</c:v>
                </c:pt>
                <c:pt idx="1">
                  <c:v>531176</c:v>
                </c:pt>
                <c:pt idx="2">
                  <c:v>117895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D1B3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Transaction Volume (₹ Crore)</c:v>
                </c:pt>
              </c:strCache>
            </c:strRef>
          </c:tx>
          <c:spPr>
            <a:solidFill>
              <a:srgbClr val="1565C0"/>
            </a:solidFill>
            <a:ln w="38100" cap="flat">
              <a:solidFill>
                <a:srgbClr val="1565C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D1B3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565C0"/>
              </a:solidFill>
              <a:ln w="9525" cap="flat">
                <a:solidFill>
                  <a:srgbClr val="1565C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</c:f>
              <c:multiLvlStrCache>
                <c:ptCount val="2"/>
                <c:lvl>
                  <c:pt idx="0">
                    <c:v>Aug 2016</c:v>
                  </c:pt>
                  <c:pt idx="1">
                    <c:v>Sep 2016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103</c:v>
                </c:pt>
                <c:pt idx="1">
                  <c:v>61.25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D1B3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Tx (₹)</c:v>
                </c:pt>
              </c:strCache>
            </c:strRef>
          </c:tx>
          <c:spPr>
            <a:solidFill>
              <a:srgbClr val="00897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D1B3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Under 25</c:v>
                  </c:pt>
                  <c:pt idx="1">
                    <c:v>25–34</c:v>
                  </c:pt>
                  <c:pt idx="2">
                    <c:v>35–44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1320</c:v>
                </c:pt>
                <c:pt idx="1">
                  <c:v>1650</c:v>
                </c:pt>
                <c:pt idx="2">
                  <c:v>1870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D1B3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Segments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62828"/>
              </a:solidFill>
              <a:effectLst/>
            </c:spPr>
          </c:dPt>
          <c:dPt>
            <c:idx val="1"/>
            <c:bubble3D val="0"/>
            <c:spPr>
              <a:solidFill>
                <a:srgbClr val="00897B"/>
              </a:solidFill>
              <a:effectLst/>
            </c:spPr>
          </c:dPt>
          <c:dPt>
            <c:idx val="2"/>
            <c:bubble3D val="0"/>
            <c:spPr>
              <a:solidFill>
                <a:srgbClr val="1565C0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Lost (77.1%)</c:v>
                </c:pt>
                <c:pt idx="1">
                  <c:v>Loyal (20.3%)</c:v>
                </c:pt>
                <c:pt idx="2">
                  <c:v>New (2.6%)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682235</c:v>
                </c:pt>
                <c:pt idx="1">
                  <c:v>179017</c:v>
                </c:pt>
                <c:pt idx="2">
                  <c:v>23013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C6282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D1B3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6282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897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565C0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Lost</c:v>
                  </c:pt>
                  <c:pt idx="1">
                    <c:v>Loyal</c:v>
                  </c:pt>
                  <c:pt idx="2">
                    <c:v>New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88.97</c:v>
                </c:pt>
                <c:pt idx="1">
                  <c:v>74.48</c:v>
                </c:pt>
                <c:pt idx="2">
                  <c:v>1.62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D1B3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Risk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897B"/>
              </a:solidFill>
              <a:effectLst/>
            </c:spPr>
          </c:dPt>
          <c:dPt>
            <c:idx val="1"/>
            <c:bubble3D val="0"/>
            <c:spPr>
              <a:solidFill>
                <a:srgbClr val="F9A825"/>
              </a:solidFill>
              <a:effectLst/>
            </c:spPr>
          </c:dPt>
          <c:dPt>
            <c:idx val="2"/>
            <c:bubble3D val="0"/>
            <c:spPr>
              <a:solidFill>
                <a:srgbClr val="C6282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Low Risk</c:v>
                </c:pt>
                <c:pt idx="1">
                  <c:v>Medium Risk</c:v>
                </c:pt>
                <c:pt idx="2">
                  <c:v>High Risk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612000</c:v>
                </c:pt>
                <c:pt idx="1">
                  <c:v>140000</c:v>
                </c:pt>
                <c:pt idx="2">
                  <c:v>132265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Credit Score</c:v>
                </c:pt>
              </c:strCache>
            </c:strRef>
          </c:tx>
          <c:spPr>
            <a:solidFill>
              <a:srgbClr val="00897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D1B3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897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565C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62828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Loyal</c:v>
                  </c:pt>
                  <c:pt idx="1">
                    <c:v>New</c:v>
                  </c:pt>
                  <c:pt idx="2">
                    <c:v>Lost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590</c:v>
                </c:pt>
                <c:pt idx="1">
                  <c:v>545</c:v>
                </c:pt>
                <c:pt idx="2">
                  <c:v>480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D1B3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40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chart" Target="/ppt/charts/chart8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0"/>
            <a:ext cx="3474720" cy="6858000"/>
          </a:xfrm>
          <a:prstGeom prst="rect">
            <a:avLst/>
          </a:prstGeom>
          <a:solidFill>
            <a:srgbClr val="1565C0">
              <a:alpha val="20000"/>
            </a:srgbClr>
          </a:solidFill>
          <a:ln w="12700">
            <a:solidFill>
              <a:srgbClr val="1565C0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01200" y="0"/>
            <a:ext cx="2560320" cy="6858000"/>
          </a:xfrm>
          <a:prstGeom prst="rect">
            <a:avLst/>
          </a:prstGeom>
          <a:solidFill>
            <a:srgbClr val="1E88E5">
              <a:alpha val="15000"/>
            </a:srgbClr>
          </a:solidFill>
          <a:ln w="12700">
            <a:solidFill>
              <a:srgbClr val="1E88E5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303520"/>
            <a:ext cx="12161520" cy="54864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972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CUSTOMER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spc="400" kern="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SOLUTION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48640" y="2880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Enterprise-Grade Business Intelligence | RFM Segmentation | Risk &amp; Profitability Analysis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7490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1.04M+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8640" y="42062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651760" y="37490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884K+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651760" y="42062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54880" y="37490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9,355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754880" y="42062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0" y="37490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₹1.65B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858000" y="42062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Volume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55778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Analytics Team  |  Data Period: Aug–Sep 2016  |  Powered by Microsoft Power BI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 –  Presentation Flow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21792"/>
            <a:ext cx="11430000" cy="18288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777240"/>
            <a:ext cx="5394960" cy="47548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29768" y="777240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86968" y="77724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834640" y="777240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facing the retail banking division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68680" y="886968"/>
            <a:ext cx="18288" cy="25603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777240"/>
            <a:ext cx="5394960" cy="47548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27648" y="777240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784848" y="77724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732520" y="777240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gaps in data visibility and reporting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766560" y="886968"/>
            <a:ext cx="18288" cy="25603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1325880"/>
            <a:ext cx="5394960" cy="47548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29768" y="1325880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86968" y="132588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834640" y="1325880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of the BI solution and its four pillars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868680" y="1435608"/>
            <a:ext cx="18288" cy="25603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0" y="1325880"/>
            <a:ext cx="5394960" cy="47548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327648" y="1325880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784848" y="132588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Flow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732520" y="1325880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methodology and workflow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766560" y="1435608"/>
            <a:ext cx="18288" cy="25603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1874520"/>
            <a:ext cx="5394960" cy="47548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29768" y="1874520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86968" y="187452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834640" y="1874520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structure, fields, and key statistics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868680" y="1984248"/>
            <a:ext cx="18288" cy="25603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17920" y="1874520"/>
            <a:ext cx="5394960" cy="47548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327648" y="1874520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784848" y="187452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Demographics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732520" y="1874520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gender, geography analysis + insights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766560" y="1984248"/>
            <a:ext cx="18288" cy="25603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" y="2423160"/>
            <a:ext cx="5394960" cy="47548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29768" y="2423160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86968" y="242316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Behavior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834640" y="2423160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Volume, timing, trends analysis + insights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868680" y="2532888"/>
            <a:ext cx="18288" cy="25603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217920" y="2423160"/>
            <a:ext cx="5394960" cy="47548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6327648" y="2423160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784848" y="242316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732520" y="2423160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model: Loyal / New / Lost + insights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766560" y="2532888"/>
            <a:ext cx="18288" cy="25603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20040" y="2971800"/>
            <a:ext cx="5394960" cy="47548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429768" y="2971800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886968" y="297180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Profitability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2834640" y="2971800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scoring, high-risk accounts + insights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868680" y="3081528"/>
            <a:ext cx="18288" cy="25603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217920" y="2971800"/>
            <a:ext cx="5394960" cy="47548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6327648" y="2971800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6784848" y="297180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Insights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8732520" y="2971800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intelligence across all pillars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6766560" y="3081528"/>
            <a:ext cx="18288" cy="25603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20040" y="3520440"/>
            <a:ext cx="5394960" cy="47548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429768" y="3520440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886968" y="352044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Recommendations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2834640" y="3520440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next steps for the bank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868680" y="3630168"/>
            <a:ext cx="18288" cy="25603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PROBLEM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Analytics Solution Was Built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processing massive volumes of daily transactions across hundreds of thousands of accounts, the retail banking division lacks clear visibility into customer behavior, churn, and financial exposure.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bank's data is currently siloed in raw transaction logs, leaving executives unable to answer critical strategic questions about customer value, demographics, and risk exposure.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406640" y="1005840"/>
            <a:ext cx="4297680" cy="1097280"/>
          </a:xfrm>
          <a:prstGeom prst="rect">
            <a:avLst/>
          </a:prstGeom>
          <a:solidFill>
            <a:srgbClr val="0D2244"/>
          </a:solidFill>
          <a:ln w="12700">
            <a:solidFill>
              <a:srgbClr val="F9A82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406640" y="1005840"/>
            <a:ext cx="73152" cy="109728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43800" y="109728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❓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138160" y="109728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visibility into who our most valuable customers are vs. who is churning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406640" y="2286000"/>
            <a:ext cx="4297680" cy="1097280"/>
          </a:xfrm>
          <a:prstGeom prst="rect">
            <a:avLst/>
          </a:prstGeom>
          <a:solidFill>
            <a:srgbClr val="0D2244"/>
          </a:solidFill>
          <a:ln w="12700">
            <a:solidFill>
              <a:srgbClr val="F9A82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406640" y="2286000"/>
            <a:ext cx="73152" cy="109728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43800" y="237744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138160" y="237744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link between customer demographics and transaction velocity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406640" y="3566160"/>
            <a:ext cx="4297680" cy="1097280"/>
          </a:xfrm>
          <a:prstGeom prst="rect">
            <a:avLst/>
          </a:prstGeom>
          <a:solidFill>
            <a:srgbClr val="0D2244"/>
          </a:solidFill>
          <a:ln w="12700">
            <a:solidFill>
              <a:srgbClr val="F9A82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406640" y="3566160"/>
            <a:ext cx="73152" cy="109728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43800" y="365760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⚠️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138160" y="365760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automated system to identify High-Risk accounts holding major capital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406640" y="4846320"/>
            <a:ext cx="4297680" cy="1097280"/>
          </a:xfrm>
          <a:prstGeom prst="rect">
            <a:avLst/>
          </a:prstGeom>
          <a:solidFill>
            <a:srgbClr val="0D2244"/>
          </a:solidFill>
          <a:ln w="12700">
            <a:solidFill>
              <a:srgbClr val="F9A82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406640" y="4846320"/>
            <a:ext cx="73152" cy="109728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43800" y="493776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💸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138160" y="493776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Losing cross-sell opportunities &amp; failing to re-engage lost customers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5577840"/>
            <a:ext cx="6583680" cy="86868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94360" y="5623560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TAKEAWAY: Without a centralized intelligence layer, the bank operates reactively — lacking the analytical engine required for proactive customer management, risk mitigation, and revenue optimization.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21792"/>
            <a:ext cx="11430000" cy="18288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22960"/>
            <a:ext cx="55778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22960"/>
            <a:ext cx="5577840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2296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Intelligence Gap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53035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bank cannot distinguish between high-value loyal customers and customers who are on the verge of churning. Without segmentation, marketing and retention efforts are untargeted and inefficient.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0" y="822960"/>
            <a:ext cx="55778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26480" y="822960"/>
            <a:ext cx="5577840" cy="4572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63640" y="82296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Demographic-Behavioral Disconnect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63640" y="1371600"/>
            <a:ext cx="53035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analytical framework exists to map demographic attributes (age, gender, location) to transaction patterns. This prevents personalized product offerings and geo-targeted campaigns.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3703320"/>
            <a:ext cx="55778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628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3703320"/>
            <a:ext cx="5577840" cy="45720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70332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Identification Failure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251960"/>
            <a:ext cx="53035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automated credit scoring or risk classification model. High-risk accounts holding disproportionate capital remain invisible to risk managers, creating systemic financial exposure.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3703320"/>
            <a:ext cx="55778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9A82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3703320"/>
            <a:ext cx="5577840" cy="45720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63640" y="370332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&amp; Behavioral Blindspot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63640" y="4251960"/>
            <a:ext cx="53035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transaction periods, time-of-day patterns, and transaction velocity trends are unknown. Operations cannot optimize staffing, and fraud detection lacks a behavioral baseline.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an End-to-End Enterprise BI Solution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design and develop an enterprise-grade Business Intelligence solution that transforms raw transaction data into a dynamic analytical engine — empowering executive leadership with a 360-degree view of the customer lifecycle.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920240"/>
            <a:ext cx="2743200" cy="4526280"/>
          </a:xfrm>
          <a:prstGeom prst="rect">
            <a:avLst/>
          </a:prstGeom>
          <a:solidFill>
            <a:srgbClr val="0D2244"/>
          </a:solidFill>
          <a:ln w="12700">
            <a:solidFill>
              <a:srgbClr val="1E88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920240"/>
            <a:ext cx="2743200" cy="54864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20116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11480" y="27432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 Intelligence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29768" y="3474720"/>
            <a:ext cx="252374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the customer base by age, gender, and geographic distribution. Identify highest-value regions and underserved segments.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1920240"/>
            <a:ext cx="2743200" cy="4526280"/>
          </a:xfrm>
          <a:prstGeom prst="rect">
            <a:avLst/>
          </a:prstGeom>
          <a:solidFill>
            <a:srgbClr val="0D2244"/>
          </a:solidFill>
          <a:ln w="1270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920240"/>
            <a:ext cx="2743200" cy="54864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20116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3291840" y="27432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Analytics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310128" y="3474720"/>
            <a:ext cx="252374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peak transaction times, velocity trends, and capital flow over time to optimize operations and detect anomalies.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80760" y="1920240"/>
            <a:ext cx="2743200" cy="4526280"/>
          </a:xfrm>
          <a:prstGeom prst="rect">
            <a:avLst/>
          </a:prstGeom>
          <a:solidFill>
            <a:srgbClr val="0D2244"/>
          </a:solidFill>
          <a:ln w="12700">
            <a:solidFill>
              <a:srgbClr val="F9A82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80760" y="1920240"/>
            <a:ext cx="2743200" cy="54864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80760" y="20116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172200" y="27432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Segmentation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190488" y="3474720"/>
            <a:ext cx="252374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a custom Recency, Frequency, Monetary model to auto-categorize accounts into Loyal, New, and Lost segments.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961120" y="1920240"/>
            <a:ext cx="2743200" cy="4526280"/>
          </a:xfrm>
          <a:prstGeom prst="rect">
            <a:avLst/>
          </a:prstGeom>
          <a:solidFill>
            <a:srgbClr val="0D2244"/>
          </a:solidFill>
          <a:ln w="12700">
            <a:solidFill>
              <a:srgbClr val="C628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961120" y="1920240"/>
            <a:ext cx="2743200" cy="54864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61120" y="20116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9052560" y="27432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Profitability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9070848" y="3474720"/>
            <a:ext cx="252374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credit scores from behavioral data to build a Threat Matrix — isolating high-revenue but high-risk accounts.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20040" y="6446520"/>
            <a:ext cx="11521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VALUE: Transition from reactive reporting to proactive strategy — enabling targeted marketing, optimized operations, and immediate risk mitigation.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FLOW  –  End-to-End Methodology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21792"/>
            <a:ext cx="11430000" cy="18288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14400"/>
            <a:ext cx="356616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14400"/>
            <a:ext cx="356616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9144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783080" y="914400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29768" y="1508760"/>
            <a:ext cx="334670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transaction CSV loaded into Power BI Desktop. Schema validated: 1.04M rows, 9 columns.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51960" y="914400"/>
            <a:ext cx="356616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1E88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51960" y="914400"/>
            <a:ext cx="3566160" cy="50292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61688" y="9144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715000" y="914400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61688" y="1508760"/>
            <a:ext cx="334670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columns: Age, AgeGroup, Transaction Month. Relationships &amp; star schema established.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183880" y="914400"/>
            <a:ext cx="356616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183880" y="914400"/>
            <a:ext cx="3566160" cy="5029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93608" y="9144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646920" y="914400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Engineering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93608" y="1508760"/>
            <a:ext cx="334670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DAX measures for RFM scoring, credit simulation, KPIs, segment classification.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183880" y="3840480"/>
            <a:ext cx="356616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9A82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183880" y="3840480"/>
            <a:ext cx="3566160" cy="50292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38404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646920" y="3840480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Segmentation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293608" y="4434840"/>
            <a:ext cx="334670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Quintile-based R/F/M scoring. Customers auto-classified as Loyal, New, or Lost.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251960" y="3840480"/>
            <a:ext cx="356616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628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251960" y="3840480"/>
            <a:ext cx="3566160" cy="50292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61688" y="38404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715000" y="3840480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Modeling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361688" y="4434840"/>
            <a:ext cx="334670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credit scores from account balance behavior. Threat Matrix for Top 10 High-Risk.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20040" y="3840480"/>
            <a:ext cx="356616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7B1FA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0040" y="3840480"/>
            <a:ext cx="3566160" cy="502920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9768" y="38404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783080" y="3840480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Design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29768" y="4434840"/>
            <a:ext cx="334670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interactive report pages with 30+ visuals: cards, charts, matrices, slicers, heatmaps.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886200" y="2203704"/>
            <a:ext cx="365760" cy="36576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977640" y="203911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818120" y="2203704"/>
            <a:ext cx="365760" cy="36576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909560" y="203911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3977640" y="495604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91440" y="495604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9692640" y="3520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  –  bank_transactions.csv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21792"/>
            <a:ext cx="11430000" cy="18288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777240"/>
            <a:ext cx="6583680" cy="5760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0A4A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8412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FIELDS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188720"/>
            <a:ext cx="6583680" cy="3200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07008"/>
            <a:ext cx="22860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Name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834640" y="1207008"/>
            <a:ext cx="3931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" y="1508760"/>
            <a:ext cx="6583680" cy="530352"/>
          </a:xfrm>
          <a:prstGeom prst="rect">
            <a:avLst/>
          </a:prstGeom>
          <a:solidFill>
            <a:srgbClr val="F8FA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54533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TransactionID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834640" y="154533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identifier for each transaction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2057400"/>
            <a:ext cx="65836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09397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CustomerID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834640" y="209397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identifier per customer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" y="2606040"/>
            <a:ext cx="6583680" cy="530352"/>
          </a:xfrm>
          <a:prstGeom prst="rect">
            <a:avLst/>
          </a:prstGeom>
          <a:solidFill>
            <a:srgbClr val="F8FA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64261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CustomerDOB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834640" y="264261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of birth → used for Age calculation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" y="3154680"/>
            <a:ext cx="65836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19125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CustGender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834640" y="319125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gender (M / F)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" y="3703320"/>
            <a:ext cx="6583680" cy="530352"/>
          </a:xfrm>
          <a:prstGeom prst="rect">
            <a:avLst/>
          </a:prstGeom>
          <a:solidFill>
            <a:srgbClr val="F8FA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73989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CustLocation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834640" y="373989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/ region of the customer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" y="4251960"/>
            <a:ext cx="65836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28853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CustAccountBalance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834640" y="428853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balance at time of transaction (₹)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0040" y="4800600"/>
            <a:ext cx="6583680" cy="530352"/>
          </a:xfrm>
          <a:prstGeom prst="rect">
            <a:avLst/>
          </a:prstGeom>
          <a:solidFill>
            <a:srgbClr val="F8FA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83717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TransactionDate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834640" y="483717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of the transaction (Aug–Sep 2016)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20040" y="5349240"/>
            <a:ext cx="65836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538581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TransactionTime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834640" y="538581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time (HHMMSS format)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20040" y="5897880"/>
            <a:ext cx="6583680" cy="530352"/>
          </a:xfrm>
          <a:prstGeom prst="rect">
            <a:avLst/>
          </a:prstGeom>
          <a:solidFill>
            <a:srgbClr val="F8FA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593445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TransactionAmount (INR)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834640" y="593445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transacted in Indian Rupees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132320" y="777240"/>
            <a:ext cx="2194560" cy="17373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7223760" y="850392"/>
            <a:ext cx="201168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1,048,567</a:t>
            </a:r>
            <a:endParaRPr lang="en-US" sz="2600" dirty="0"/>
          </a:p>
        </p:txBody>
      </p:sp>
      <p:sp>
        <p:nvSpPr>
          <p:cNvPr id="39" name="Text 37"/>
          <p:cNvSpPr/>
          <p:nvPr/>
        </p:nvSpPr>
        <p:spPr>
          <a:xfrm>
            <a:off x="7178040" y="1645920"/>
            <a:ext cx="210312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Transactions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7178040" y="2097634"/>
            <a:ext cx="21031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Aug–Sep 2016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9464040" y="777240"/>
            <a:ext cx="2194560" cy="17373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9555480" y="850392"/>
            <a:ext cx="201168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884,265</a:t>
            </a:r>
            <a:endParaRPr lang="en-US" sz="2600" dirty="0"/>
          </a:p>
        </p:txBody>
      </p:sp>
      <p:sp>
        <p:nvSpPr>
          <p:cNvPr id="43" name="Text 41"/>
          <p:cNvSpPr/>
          <p:nvPr/>
        </p:nvSpPr>
        <p:spPr>
          <a:xfrm>
            <a:off x="9509760" y="1645920"/>
            <a:ext cx="210312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Customers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9509760" y="2097634"/>
            <a:ext cx="21031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9,355 cities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7132320" y="2651760"/>
            <a:ext cx="2194560" cy="17373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7223760" y="2724912"/>
            <a:ext cx="201168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₹1,574</a:t>
            </a:r>
            <a:endParaRPr lang="en-US" sz="2600" dirty="0"/>
          </a:p>
        </p:txBody>
      </p:sp>
      <p:sp>
        <p:nvSpPr>
          <p:cNvPr id="47" name="Text 45"/>
          <p:cNvSpPr/>
          <p:nvPr/>
        </p:nvSpPr>
        <p:spPr>
          <a:xfrm>
            <a:off x="7178040" y="3520440"/>
            <a:ext cx="210312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Transaction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7178040" y="3972154"/>
            <a:ext cx="21031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INR per transaction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9464040" y="2651760"/>
            <a:ext cx="2194560" cy="1737360"/>
          </a:xfrm>
          <a:prstGeom prst="rect">
            <a:avLst/>
          </a:prstGeom>
          <a:solidFill>
            <a:srgbClr val="0D2244"/>
          </a:solidFill>
          <a:ln w="12700">
            <a:solidFill>
              <a:srgbClr val="0D22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9555480" y="2724912"/>
            <a:ext cx="201168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₹1,15,404</a:t>
            </a:r>
            <a:endParaRPr lang="en-US" sz="2600" dirty="0"/>
          </a:p>
        </p:txBody>
      </p:sp>
      <p:sp>
        <p:nvSpPr>
          <p:cNvPr id="51" name="Text 49"/>
          <p:cNvSpPr/>
          <p:nvPr/>
        </p:nvSpPr>
        <p:spPr>
          <a:xfrm>
            <a:off x="9509760" y="3520440"/>
            <a:ext cx="210312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Account Balance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9509760" y="3972154"/>
            <a:ext cx="21031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time of transaction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7132320" y="4526280"/>
            <a:ext cx="2194560" cy="173736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7223760" y="4599432"/>
            <a:ext cx="201168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₹1.65B</a:t>
            </a:r>
            <a:endParaRPr lang="en-US" sz="2600" dirty="0"/>
          </a:p>
        </p:txBody>
      </p:sp>
      <p:sp>
        <p:nvSpPr>
          <p:cNvPr id="55" name="Text 53"/>
          <p:cNvSpPr/>
          <p:nvPr/>
        </p:nvSpPr>
        <p:spPr>
          <a:xfrm>
            <a:off x="7178040" y="5394960"/>
            <a:ext cx="210312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Volume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7178040" y="5846674"/>
            <a:ext cx="21031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transaction value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9464040" y="4526280"/>
            <a:ext cx="2194560" cy="1737360"/>
          </a:xfrm>
          <a:prstGeom prst="rect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9555480" y="4599432"/>
            <a:ext cx="201168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28.7 yrs</a:t>
            </a:r>
            <a:endParaRPr lang="en-US" sz="2600" dirty="0"/>
          </a:p>
        </p:txBody>
      </p:sp>
      <p:sp>
        <p:nvSpPr>
          <p:cNvPr id="59" name="Text 57"/>
          <p:cNvSpPr/>
          <p:nvPr/>
        </p:nvSpPr>
        <p:spPr>
          <a:xfrm>
            <a:off x="9509760" y="5394960"/>
            <a:ext cx="210312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Customer Age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9509760" y="5846674"/>
            <a:ext cx="21031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adult demographic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 — CUSTOMER DEMOGRAPHICS ANALYSIS  (Power BI Dashboard)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21792"/>
            <a:ext cx="11430000" cy="18288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749808"/>
            <a:ext cx="11521440" cy="5760720"/>
          </a:xfrm>
          <a:prstGeom prst="rect">
            <a:avLst/>
          </a:prstGeom>
          <a:solidFill>
            <a:srgbClr val="E8EDF7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868680"/>
            <a:ext cx="2651760" cy="10058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941832"/>
            <a:ext cx="246888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884K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02920" y="1371600"/>
            <a:ext cx="256032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46120" y="868680"/>
            <a:ext cx="2651760" cy="10058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37560" y="941832"/>
            <a:ext cx="246888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28.7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291840" y="1371600"/>
            <a:ext cx="256032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Age (years)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35040" y="868680"/>
            <a:ext cx="2651760" cy="10058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26480" y="941832"/>
            <a:ext cx="246888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46.4%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080760" y="1371600"/>
            <a:ext cx="256032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Customers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823960" y="868680"/>
            <a:ext cx="2651760" cy="100584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915400" y="941832"/>
            <a:ext cx="246888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9,355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869680" y="1371600"/>
            <a:ext cx="256032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Locations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2011680"/>
            <a:ext cx="29260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90A4A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48640" y="20848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Distribution</a:t>
            </a:r>
            <a:endParaRPr lang="en-US" sz="95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457200" y="2331720"/>
          <a:ext cx="292608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Shape 18"/>
          <p:cNvSpPr/>
          <p:nvPr/>
        </p:nvSpPr>
        <p:spPr>
          <a:xfrm>
            <a:off x="3520440" y="2011680"/>
            <a:ext cx="47548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90A4A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3611880" y="20848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by Age Group</a:t>
            </a:r>
            <a:endParaRPr lang="en-US" sz="950" dirty="0"/>
          </a:p>
        </p:txBody>
      </p:sp>
      <p:graphicFrame>
        <p:nvGraphicFramePr>
          <p:cNvPr id="23" name="Chart 1" descr=""/>
          <p:cNvGraphicFramePr/>
          <p:nvPr/>
        </p:nvGraphicFramePr>
        <p:xfrm>
          <a:off x="3520440" y="2331720"/>
          <a:ext cx="475488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Shape 20"/>
          <p:cNvSpPr/>
          <p:nvPr/>
        </p:nvSpPr>
        <p:spPr>
          <a:xfrm>
            <a:off x="8412480" y="2011680"/>
            <a:ext cx="33832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90A4A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1"/>
          <p:cNvSpPr/>
          <p:nvPr/>
        </p:nvSpPr>
        <p:spPr>
          <a:xfrm>
            <a:off x="8503920" y="20848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Customer Locations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8458200" y="2423160"/>
            <a:ext cx="2834926" cy="34747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8485632" y="24597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10424160" y="245973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101,729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8458200" y="2907792"/>
            <a:ext cx="2328714" cy="34747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8485632" y="29443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Delhi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10424160" y="29443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83,564</a:t>
            </a:r>
            <a:endParaRPr lang="en-US" sz="900" dirty="0"/>
          </a:p>
        </p:txBody>
      </p:sp>
      <p:sp>
        <p:nvSpPr>
          <p:cNvPr id="32" name="Shape 28"/>
          <p:cNvSpPr/>
          <p:nvPr/>
        </p:nvSpPr>
        <p:spPr>
          <a:xfrm>
            <a:off x="8458200" y="3392424"/>
            <a:ext cx="2239064" cy="34747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8485632" y="34290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Bangalore</a:t>
            </a:r>
            <a:endParaRPr lang="en-US" sz="900" dirty="0"/>
          </a:p>
        </p:txBody>
      </p:sp>
      <p:sp>
        <p:nvSpPr>
          <p:cNvPr id="34" name="Text 30"/>
          <p:cNvSpPr/>
          <p:nvPr/>
        </p:nvSpPr>
        <p:spPr>
          <a:xfrm>
            <a:off x="10424160" y="34290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80,347</a:t>
            </a:r>
            <a:endParaRPr lang="en-US" sz="900" dirty="0"/>
          </a:p>
        </p:txBody>
      </p:sp>
      <p:sp>
        <p:nvSpPr>
          <p:cNvPr id="35" name="Shape 31"/>
          <p:cNvSpPr/>
          <p:nvPr/>
        </p:nvSpPr>
        <p:spPr>
          <a:xfrm>
            <a:off x="8458200" y="3877056"/>
            <a:ext cx="2030309" cy="34747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8485632" y="39136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Gurgaon</a:t>
            </a:r>
            <a:endParaRPr lang="en-US" sz="900" dirty="0"/>
          </a:p>
        </p:txBody>
      </p:sp>
      <p:sp>
        <p:nvSpPr>
          <p:cNvPr id="37" name="Text 33"/>
          <p:cNvSpPr/>
          <p:nvPr/>
        </p:nvSpPr>
        <p:spPr>
          <a:xfrm>
            <a:off x="10424160" y="39136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72,856</a:t>
            </a:r>
            <a:endParaRPr lang="en-US" sz="900" dirty="0"/>
          </a:p>
        </p:txBody>
      </p:sp>
      <p:sp>
        <p:nvSpPr>
          <p:cNvPr id="38" name="Shape 34"/>
          <p:cNvSpPr/>
          <p:nvPr/>
        </p:nvSpPr>
        <p:spPr>
          <a:xfrm>
            <a:off x="8458200" y="4361688"/>
            <a:ext cx="1952587" cy="34747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8485632" y="43982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</a:t>
            </a:r>
            <a:endParaRPr lang="en-US" sz="900" dirty="0"/>
          </a:p>
        </p:txBody>
      </p:sp>
      <p:sp>
        <p:nvSpPr>
          <p:cNvPr id="40" name="Text 36"/>
          <p:cNvSpPr/>
          <p:nvPr/>
        </p:nvSpPr>
        <p:spPr>
          <a:xfrm>
            <a:off x="10424160" y="439826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70,067</a:t>
            </a:r>
            <a:endParaRPr lang="en-US" sz="900" dirty="0"/>
          </a:p>
        </p:txBody>
      </p:sp>
      <p:sp>
        <p:nvSpPr>
          <p:cNvPr id="41" name="Shape 37"/>
          <p:cNvSpPr/>
          <p:nvPr/>
        </p:nvSpPr>
        <p:spPr>
          <a:xfrm>
            <a:off x="457200" y="5074920"/>
            <a:ext cx="11338560" cy="4572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594360" y="5102352"/>
            <a:ext cx="11064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🔽 SLICERS AVAILABLE: Age Group  |  Gender  |  Location  |  Allows interactive filtering across all visuals on this page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 — CUSTOMER DEMOGRAPHICS  ·  Key Insights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21792"/>
            <a:ext cx="11430000" cy="18288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04672"/>
            <a:ext cx="55778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04672"/>
            <a:ext cx="73152" cy="26517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9418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👥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149047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Customer Base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947672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86% of customers fall in the 25–34 age bracket, with the next largest segment being Under 25 at ~25%. The bank serves a predominantly millennial and Gen-Z demographic — indicating strong potential for digital banking products.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26480" y="804672"/>
            <a:ext cx="55778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126480" y="804672"/>
            <a:ext cx="73152" cy="26517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9418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♂️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355080" y="149047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Male-Dominated Portfolio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55080" y="1947672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customers account for ~73% of the base (765K) vs. ~27% female (282K). This significant gender gap presents an untapped opportunity in targeting female customers with tailored financial products.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3685032"/>
            <a:ext cx="55778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9A82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3685032"/>
            <a:ext cx="73152" cy="265176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8221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48640" y="437083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 City Concentration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828032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 (101K), New Delhi (83K), and Bangalore (80K) collectively account for ~30% of all customers. Tier-1 city dominance points to rural/semi-urban growth opportunity.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26480" y="3685032"/>
            <a:ext cx="55778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7B1FA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26480" y="3685032"/>
            <a:ext cx="73152" cy="2651760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0" y="38221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📍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355080" y="437083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Diversity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355080" y="4828032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9,355 unique locations, the customer base is widely distributed. However, the top 10 cities likely represent 50%+ of volume — confirming a Pareto distribution in geographic concentration.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 — TRANSACTION BEHAVIOR INSIGHTS  (Power BI Dashboard)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21792"/>
            <a:ext cx="11430000" cy="18288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868680"/>
            <a:ext cx="2651760" cy="10058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941832"/>
            <a:ext cx="246888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1.04M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256032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Transactions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46120" y="868680"/>
            <a:ext cx="2651760" cy="10058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37560" y="941832"/>
            <a:ext cx="246888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₹1,574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291840" y="1371600"/>
            <a:ext cx="256032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Transaction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035040" y="868680"/>
            <a:ext cx="2651760" cy="100584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26480" y="941832"/>
            <a:ext cx="246888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₹15.6L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080760" y="1371600"/>
            <a:ext cx="256032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Single Transaction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823960" y="868680"/>
            <a:ext cx="2651760" cy="10058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915400" y="941832"/>
            <a:ext cx="246888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₹1,15,404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869680" y="1371600"/>
            <a:ext cx="256032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Account Balance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2011680"/>
            <a:ext cx="74066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90A4A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208483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Volume Over Time (Monthly)</a:t>
            </a:r>
            <a:endParaRPr lang="en-US" sz="95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457200" y="2331720"/>
          <a:ext cx="740664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Shape 17"/>
          <p:cNvSpPr/>
          <p:nvPr/>
        </p:nvSpPr>
        <p:spPr>
          <a:xfrm>
            <a:off x="8001000" y="2011680"/>
            <a:ext cx="37490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90A4A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8138160" y="20848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Transaction by Age Group</a:t>
            </a:r>
            <a:endParaRPr lang="en-US" sz="950" dirty="0"/>
          </a:p>
        </p:txBody>
      </p:sp>
      <p:graphicFrame>
        <p:nvGraphicFramePr>
          <p:cNvPr id="22" name="Chart 1" descr=""/>
          <p:cNvGraphicFramePr/>
          <p:nvPr/>
        </p:nvGraphicFramePr>
        <p:xfrm>
          <a:off x="8001000" y="2331720"/>
          <a:ext cx="374904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3" name="Shape 19"/>
          <p:cNvSpPr/>
          <p:nvPr/>
        </p:nvSpPr>
        <p:spPr>
          <a:xfrm>
            <a:off x="457200" y="5074920"/>
            <a:ext cx="11338560" cy="4572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94360" y="5102352"/>
            <a:ext cx="11064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🔽 SLICERS AVAILABLE: Date Range  |  Transaction Time  |  Transaction Amount Range  |  Interactive filtering across all visuals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 — TRANSACTION BEHAVIOR  ·  Key Insights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21792"/>
            <a:ext cx="11430000" cy="18288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04672"/>
            <a:ext cx="55778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04672"/>
            <a:ext cx="73152" cy="26517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9418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149047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2016 Peak Volume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947672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2016 recorded ₹103 Crore in transaction volume — 68% higher than September 2016 (₹61.25 Crore). This seasonal spike warrants investigation into promotional events or payroll cycles triggering elevated activity.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26480" y="804672"/>
            <a:ext cx="55778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126480" y="804672"/>
            <a:ext cx="73152" cy="26517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9418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355080" y="149047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Average Transaction Value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55080" y="1947672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mean transaction of ₹1,574 with a median of ₹459 indicates the customer base is primarily transactional/retail in nature. However, the max transaction of ₹15.6 Lakh signals the presence of high-value HNI accounts.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3685032"/>
            <a:ext cx="55778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9A82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3685032"/>
            <a:ext cx="73152" cy="265176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8221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👴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48640" y="437083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Age-Transaction Correlation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828032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Older age segments (35–44) show ~42% higher average transaction values than Under-25 customers, suggesting older customers transact for higher-value purposes (property, investments, large purchases).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26480" y="3685032"/>
            <a:ext cx="55778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628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26480" y="3685032"/>
            <a:ext cx="73152" cy="265176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0" y="38221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🏦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355080" y="437083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Balance Concentration Risk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355080" y="4828032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account balance of ₹1.15 Lakh masks extreme concentration — maximum balance of ₹11.5 Crore. A small proportion of accounts likely hold a disproportionate share of deposits, creating liquidity concentration risk.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 — CUSTOMER SEGMENTATION ANALYSIS  (Power BI Dashboard)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21792"/>
            <a:ext cx="11430000" cy="18288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868680"/>
            <a:ext cx="2651760" cy="10058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941832"/>
            <a:ext cx="246888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179,017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256032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 Customers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2920" y="1633118"/>
            <a:ext cx="2560320" cy="2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20.3% of base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246120" y="868680"/>
            <a:ext cx="2651760" cy="10058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37560" y="941832"/>
            <a:ext cx="246888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23,013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291840" y="1371600"/>
            <a:ext cx="256032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Customers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291840" y="1633118"/>
            <a:ext cx="2560320" cy="2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2.6% of base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035040" y="868680"/>
            <a:ext cx="2651760" cy="100584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26480" y="941832"/>
            <a:ext cx="246888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682,235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080760" y="1371600"/>
            <a:ext cx="256032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Customers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080760" y="1633118"/>
            <a:ext cx="2560320" cy="2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77.1% of base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8823960" y="868680"/>
            <a:ext cx="2651760" cy="100584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915400" y="941832"/>
            <a:ext cx="246888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₹4,161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8869680" y="1371600"/>
            <a:ext cx="256032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 Avg Revenue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869680" y="1633118"/>
            <a:ext cx="2560320" cy="2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value segment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57200" y="2011680"/>
            <a:ext cx="32004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90A4A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94360" y="20848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Distribution</a:t>
            </a:r>
            <a:endParaRPr lang="en-US" sz="950" dirty="0"/>
          </a:p>
        </p:txBody>
      </p:sp>
      <p:graphicFrame>
        <p:nvGraphicFramePr>
          <p:cNvPr id="23" name="Chart 0" descr=""/>
          <p:cNvGraphicFramePr/>
          <p:nvPr/>
        </p:nvGraphicFramePr>
        <p:xfrm>
          <a:off x="457200" y="2331720"/>
          <a:ext cx="320040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4" name="Shape 21"/>
          <p:cNvSpPr/>
          <p:nvPr/>
        </p:nvSpPr>
        <p:spPr>
          <a:xfrm>
            <a:off x="3794760" y="2011680"/>
            <a:ext cx="41148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90A4A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3931920" y="20848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by Segment (₹ Crore)</a:t>
            </a:r>
            <a:endParaRPr lang="en-US" sz="950" dirty="0"/>
          </a:p>
        </p:txBody>
      </p:sp>
      <p:graphicFrame>
        <p:nvGraphicFramePr>
          <p:cNvPr id="26" name="Chart 1" descr=""/>
          <p:cNvGraphicFramePr/>
          <p:nvPr/>
        </p:nvGraphicFramePr>
        <p:xfrm>
          <a:off x="3794760" y="2331720"/>
          <a:ext cx="411480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7" name="Shape 23"/>
          <p:cNvSpPr/>
          <p:nvPr/>
        </p:nvSpPr>
        <p:spPr>
          <a:xfrm>
            <a:off x="8046720" y="2011680"/>
            <a:ext cx="37490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90A4A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4"/>
          <p:cNvSpPr/>
          <p:nvPr/>
        </p:nvSpPr>
        <p:spPr>
          <a:xfrm>
            <a:off x="8183880" y="20848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RFM Metrics by Segment</a:t>
            </a:r>
            <a:endParaRPr lang="en-US" sz="950" dirty="0"/>
          </a:p>
        </p:txBody>
      </p:sp>
      <p:sp>
        <p:nvSpPr>
          <p:cNvPr id="29" name="Shape 25"/>
          <p:cNvSpPr/>
          <p:nvPr/>
        </p:nvSpPr>
        <p:spPr>
          <a:xfrm>
            <a:off x="8065008" y="2395728"/>
            <a:ext cx="1051560" cy="594360"/>
          </a:xfrm>
          <a:prstGeom prst="rect">
            <a:avLst/>
          </a:prstGeom>
          <a:solidFill>
            <a:srgbClr val="0D1B3E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8101584" y="2432304"/>
            <a:ext cx="9784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</a:t>
            </a:r>
            <a:endParaRPr lang="en-US" sz="850" dirty="0"/>
          </a:p>
        </p:txBody>
      </p:sp>
      <p:sp>
        <p:nvSpPr>
          <p:cNvPr id="31" name="Shape 27"/>
          <p:cNvSpPr/>
          <p:nvPr/>
        </p:nvSpPr>
        <p:spPr>
          <a:xfrm>
            <a:off x="9116568" y="2395728"/>
            <a:ext cx="777240" cy="594360"/>
          </a:xfrm>
          <a:prstGeom prst="rect">
            <a:avLst/>
          </a:prstGeom>
          <a:solidFill>
            <a:srgbClr val="0D1B3E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9153144" y="2432304"/>
            <a:ext cx="70408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</a:t>
            </a:r>
            <a:endParaRPr lang="en-US" sz="850" dirty="0"/>
          </a:p>
        </p:txBody>
      </p:sp>
      <p:sp>
        <p:nvSpPr>
          <p:cNvPr id="33" name="Shape 29"/>
          <p:cNvSpPr/>
          <p:nvPr/>
        </p:nvSpPr>
        <p:spPr>
          <a:xfrm>
            <a:off x="9893808" y="2395728"/>
            <a:ext cx="777240" cy="594360"/>
          </a:xfrm>
          <a:prstGeom prst="rect">
            <a:avLst/>
          </a:prstGeom>
          <a:solidFill>
            <a:srgbClr val="0D1B3E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9930384" y="2432304"/>
            <a:ext cx="70408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</a:t>
            </a:r>
            <a:endParaRPr lang="en-US" sz="850" dirty="0"/>
          </a:p>
        </p:txBody>
      </p:sp>
      <p:sp>
        <p:nvSpPr>
          <p:cNvPr id="35" name="Shape 31"/>
          <p:cNvSpPr/>
          <p:nvPr/>
        </p:nvSpPr>
        <p:spPr>
          <a:xfrm>
            <a:off x="10671048" y="2395728"/>
            <a:ext cx="822960" cy="594360"/>
          </a:xfrm>
          <a:prstGeom prst="rect">
            <a:avLst/>
          </a:prstGeom>
          <a:solidFill>
            <a:srgbClr val="0D1B3E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10707624" y="2432304"/>
            <a:ext cx="7498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Monetary</a:t>
            </a:r>
            <a:endParaRPr lang="en-US" sz="850" dirty="0"/>
          </a:p>
        </p:txBody>
      </p:sp>
      <p:sp>
        <p:nvSpPr>
          <p:cNvPr id="37" name="Shape 33"/>
          <p:cNvSpPr/>
          <p:nvPr/>
        </p:nvSpPr>
        <p:spPr>
          <a:xfrm>
            <a:off x="8065008" y="3035808"/>
            <a:ext cx="10515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8101584" y="3072384"/>
            <a:ext cx="9784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</a:t>
            </a:r>
            <a:endParaRPr lang="en-US" sz="850" dirty="0"/>
          </a:p>
        </p:txBody>
      </p:sp>
      <p:sp>
        <p:nvSpPr>
          <p:cNvPr id="39" name="Shape 35"/>
          <p:cNvSpPr/>
          <p:nvPr/>
        </p:nvSpPr>
        <p:spPr>
          <a:xfrm>
            <a:off x="9116568" y="3035808"/>
            <a:ext cx="777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9153144" y="3072384"/>
            <a:ext cx="70408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days</a:t>
            </a:r>
            <a:endParaRPr lang="en-US" sz="850" dirty="0"/>
          </a:p>
        </p:txBody>
      </p:sp>
      <p:sp>
        <p:nvSpPr>
          <p:cNvPr id="41" name="Shape 37"/>
          <p:cNvSpPr/>
          <p:nvPr/>
        </p:nvSpPr>
        <p:spPr>
          <a:xfrm>
            <a:off x="9893808" y="3035808"/>
            <a:ext cx="777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9930384" y="3072384"/>
            <a:ext cx="70408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txns</a:t>
            </a:r>
            <a:endParaRPr lang="en-US" sz="850" dirty="0"/>
          </a:p>
        </p:txBody>
      </p:sp>
      <p:sp>
        <p:nvSpPr>
          <p:cNvPr id="43" name="Shape 39"/>
          <p:cNvSpPr/>
          <p:nvPr/>
        </p:nvSpPr>
        <p:spPr>
          <a:xfrm>
            <a:off x="10671048" y="3035808"/>
            <a:ext cx="8229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10707624" y="3072384"/>
            <a:ext cx="7498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₹4,161</a:t>
            </a:r>
            <a:endParaRPr lang="en-US" sz="850" dirty="0"/>
          </a:p>
        </p:txBody>
      </p:sp>
      <p:sp>
        <p:nvSpPr>
          <p:cNvPr id="45" name="Shape 41"/>
          <p:cNvSpPr/>
          <p:nvPr/>
        </p:nvSpPr>
        <p:spPr>
          <a:xfrm>
            <a:off x="8065008" y="3675888"/>
            <a:ext cx="1051560" cy="594360"/>
          </a:xfrm>
          <a:prstGeom prst="rect">
            <a:avLst/>
          </a:prstGeom>
          <a:solidFill>
            <a:srgbClr val="F8FA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8101584" y="3712464"/>
            <a:ext cx="9784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850" dirty="0"/>
          </a:p>
        </p:txBody>
      </p:sp>
      <p:sp>
        <p:nvSpPr>
          <p:cNvPr id="47" name="Shape 43"/>
          <p:cNvSpPr/>
          <p:nvPr/>
        </p:nvSpPr>
        <p:spPr>
          <a:xfrm>
            <a:off x="9116568" y="3675888"/>
            <a:ext cx="777240" cy="594360"/>
          </a:xfrm>
          <a:prstGeom prst="rect">
            <a:avLst/>
          </a:prstGeom>
          <a:solidFill>
            <a:srgbClr val="F8FA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9153144" y="3712464"/>
            <a:ext cx="70408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days</a:t>
            </a:r>
            <a:endParaRPr lang="en-US" sz="850" dirty="0"/>
          </a:p>
        </p:txBody>
      </p:sp>
      <p:sp>
        <p:nvSpPr>
          <p:cNvPr id="49" name="Shape 45"/>
          <p:cNvSpPr/>
          <p:nvPr/>
        </p:nvSpPr>
        <p:spPr>
          <a:xfrm>
            <a:off x="9893808" y="3675888"/>
            <a:ext cx="777240" cy="594360"/>
          </a:xfrm>
          <a:prstGeom prst="rect">
            <a:avLst/>
          </a:prstGeom>
          <a:solidFill>
            <a:srgbClr val="F8FA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9930384" y="3712464"/>
            <a:ext cx="70408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txns</a:t>
            </a:r>
            <a:endParaRPr lang="en-US" sz="850" dirty="0"/>
          </a:p>
        </p:txBody>
      </p:sp>
      <p:sp>
        <p:nvSpPr>
          <p:cNvPr id="51" name="Shape 47"/>
          <p:cNvSpPr/>
          <p:nvPr/>
        </p:nvSpPr>
        <p:spPr>
          <a:xfrm>
            <a:off x="10671048" y="3675888"/>
            <a:ext cx="822960" cy="594360"/>
          </a:xfrm>
          <a:prstGeom prst="rect">
            <a:avLst/>
          </a:prstGeom>
          <a:solidFill>
            <a:srgbClr val="F8FA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2" name="Text 48"/>
          <p:cNvSpPr/>
          <p:nvPr/>
        </p:nvSpPr>
        <p:spPr>
          <a:xfrm>
            <a:off x="10707624" y="3712464"/>
            <a:ext cx="7498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₹706</a:t>
            </a:r>
            <a:endParaRPr lang="en-US" sz="850" dirty="0"/>
          </a:p>
        </p:txBody>
      </p:sp>
      <p:sp>
        <p:nvSpPr>
          <p:cNvPr id="53" name="Shape 49"/>
          <p:cNvSpPr/>
          <p:nvPr/>
        </p:nvSpPr>
        <p:spPr>
          <a:xfrm>
            <a:off x="8065008" y="4315968"/>
            <a:ext cx="10515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4" name="Text 50"/>
          <p:cNvSpPr/>
          <p:nvPr/>
        </p:nvSpPr>
        <p:spPr>
          <a:xfrm>
            <a:off x="8101584" y="4352544"/>
            <a:ext cx="9784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</a:t>
            </a:r>
            <a:endParaRPr lang="en-US" sz="850" dirty="0"/>
          </a:p>
        </p:txBody>
      </p:sp>
      <p:sp>
        <p:nvSpPr>
          <p:cNvPr id="55" name="Shape 51"/>
          <p:cNvSpPr/>
          <p:nvPr/>
        </p:nvSpPr>
        <p:spPr>
          <a:xfrm>
            <a:off x="9116568" y="4315968"/>
            <a:ext cx="777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6" name="Text 52"/>
          <p:cNvSpPr/>
          <p:nvPr/>
        </p:nvSpPr>
        <p:spPr>
          <a:xfrm>
            <a:off x="9153144" y="4352544"/>
            <a:ext cx="70408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days</a:t>
            </a:r>
            <a:endParaRPr lang="en-US" sz="850" dirty="0"/>
          </a:p>
        </p:txBody>
      </p:sp>
      <p:sp>
        <p:nvSpPr>
          <p:cNvPr id="57" name="Shape 53"/>
          <p:cNvSpPr/>
          <p:nvPr/>
        </p:nvSpPr>
        <p:spPr>
          <a:xfrm>
            <a:off x="9893808" y="4315968"/>
            <a:ext cx="777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8" name="Text 54"/>
          <p:cNvSpPr/>
          <p:nvPr/>
        </p:nvSpPr>
        <p:spPr>
          <a:xfrm>
            <a:off x="9930384" y="4352544"/>
            <a:ext cx="70408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 txns</a:t>
            </a:r>
            <a:endParaRPr lang="en-US" sz="850" dirty="0"/>
          </a:p>
        </p:txBody>
      </p:sp>
      <p:sp>
        <p:nvSpPr>
          <p:cNvPr id="59" name="Shape 55"/>
          <p:cNvSpPr/>
          <p:nvPr/>
        </p:nvSpPr>
        <p:spPr>
          <a:xfrm>
            <a:off x="10671048" y="4315968"/>
            <a:ext cx="8229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0" name="Text 56"/>
          <p:cNvSpPr/>
          <p:nvPr/>
        </p:nvSpPr>
        <p:spPr>
          <a:xfrm>
            <a:off x="10707624" y="4352544"/>
            <a:ext cx="7498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₹1,304</a:t>
            </a:r>
            <a:endParaRPr lang="en-US" sz="850" dirty="0"/>
          </a:p>
        </p:txBody>
      </p:sp>
      <p:sp>
        <p:nvSpPr>
          <p:cNvPr id="61" name="Shape 57"/>
          <p:cNvSpPr/>
          <p:nvPr/>
        </p:nvSpPr>
        <p:spPr>
          <a:xfrm>
            <a:off x="457200" y="5074920"/>
            <a:ext cx="11338560" cy="4572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62" name="Text 58"/>
          <p:cNvSpPr/>
          <p:nvPr/>
        </p:nvSpPr>
        <p:spPr>
          <a:xfrm>
            <a:off x="594360" y="5102352"/>
            <a:ext cx="11064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🔽 SLICERS AVAILABLE: Customer Segment  |  Age Group  |  Gender  |  Interactive cross-filtering enabled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 — CUSTOMER SEGMENTATION  ·  Key Insights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21792"/>
            <a:ext cx="11430000" cy="18288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04672"/>
            <a:ext cx="55778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628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04672"/>
            <a:ext cx="73152" cy="265176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9418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🚨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149047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Churn Rate: 77.1% Lost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1947672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682,000 customers are classified as 'Lost' — a critical finding. Despite generating ₹88.97 Crore in total revenue historically, these customers are no longer active. An immediate re-engagement campaign is essential.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26480" y="804672"/>
            <a:ext cx="55778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126480" y="804672"/>
            <a:ext cx="73152" cy="26517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9418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🌟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355080" y="149047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 Segment: Highest Value Density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355080" y="1947672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179K loyal customers (20.3%) generate ₹74.48 Crore — nearly equal to the 682K lost customers combined. Average revenue per loyal customer (₹4,161) is 3.2x higher than lost customers. Protecting this segment is paramount.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3685032"/>
            <a:ext cx="55778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3685032"/>
            <a:ext cx="73152" cy="26517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8221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🌱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48640" y="437083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Customers: Growth Pipeline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4828032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23,013 new customers represent the growth pipeline. Though average revenue (₹706) is lowest, high recency scores suggest these customers are still engaged. Early nurturing programs can convert them to loyal status.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26480" y="3685032"/>
            <a:ext cx="55778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9A82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26480" y="3685032"/>
            <a:ext cx="73152" cy="265176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0" y="38221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355080" y="437083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Model Accuracy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355080" y="4828032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RFM model successfully differentiates segments: Loyal customers average 4.2 transactions with 5-day recency vs. Lost customers at 1.3 transactions and 32-day recency. This quantitative gap validates the segmentation model.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 — RISK &amp; PROFITABILITY INDICATORS  (Power BI Dashboard)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21792"/>
            <a:ext cx="11430000" cy="18288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868680"/>
            <a:ext cx="2651760" cy="10058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941832"/>
            <a:ext cx="246888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₹1.65B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256032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46120" y="868680"/>
            <a:ext cx="2651760" cy="10058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37560" y="941832"/>
            <a:ext cx="246888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520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291840" y="1371600"/>
            <a:ext cx="256032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Credit Score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035040" y="868680"/>
            <a:ext cx="2651760" cy="100584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26480" y="941832"/>
            <a:ext cx="246888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132K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080760" y="1371600"/>
            <a:ext cx="256032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Customers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823960" y="868680"/>
            <a:ext cx="2651760" cy="100584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915400" y="941832"/>
            <a:ext cx="246888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₹1.65B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869680" y="1371600"/>
            <a:ext cx="256032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Monetary Value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2011680"/>
            <a:ext cx="32004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90A4A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20848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Risk Level Distribution</a:t>
            </a:r>
            <a:endParaRPr lang="en-US" sz="95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457200" y="2331720"/>
          <a:ext cx="320040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Shape 17"/>
          <p:cNvSpPr/>
          <p:nvPr/>
        </p:nvSpPr>
        <p:spPr>
          <a:xfrm>
            <a:off x="3794760" y="2011680"/>
            <a:ext cx="41148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90A4A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3931920" y="20848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Credit Score by Segment</a:t>
            </a:r>
            <a:endParaRPr lang="en-US" sz="950" dirty="0"/>
          </a:p>
        </p:txBody>
      </p:sp>
      <p:graphicFrame>
        <p:nvGraphicFramePr>
          <p:cNvPr id="22" name="Chart 1" descr=""/>
          <p:cNvGraphicFramePr/>
          <p:nvPr/>
        </p:nvGraphicFramePr>
        <p:xfrm>
          <a:off x="3794760" y="2331720"/>
          <a:ext cx="411480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3" name="Shape 19"/>
          <p:cNvSpPr/>
          <p:nvPr/>
        </p:nvSpPr>
        <p:spPr>
          <a:xfrm>
            <a:off x="8046720" y="2011680"/>
            <a:ext cx="37490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90A4A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>
            <a:off x="8183880" y="20848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High-Risk Customer Profile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8065008" y="2395728"/>
            <a:ext cx="1847088" cy="475488"/>
          </a:xfrm>
          <a:prstGeom prst="rect">
            <a:avLst/>
          </a:prstGeom>
          <a:solidFill>
            <a:srgbClr val="0D1B3E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8119872" y="2432304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</a:t>
            </a:r>
            <a:endParaRPr lang="en-US" sz="850" dirty="0"/>
          </a:p>
        </p:txBody>
      </p:sp>
      <p:sp>
        <p:nvSpPr>
          <p:cNvPr id="27" name="Shape 23"/>
          <p:cNvSpPr/>
          <p:nvPr/>
        </p:nvSpPr>
        <p:spPr>
          <a:xfrm>
            <a:off x="9930384" y="2395728"/>
            <a:ext cx="1847088" cy="475488"/>
          </a:xfrm>
          <a:prstGeom prst="rect">
            <a:avLst/>
          </a:prstGeom>
          <a:solidFill>
            <a:srgbClr val="0D1B3E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9985248" y="2432304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Profile</a:t>
            </a:r>
            <a:endParaRPr lang="en-US" sz="850" dirty="0"/>
          </a:p>
        </p:txBody>
      </p:sp>
      <p:sp>
        <p:nvSpPr>
          <p:cNvPr id="29" name="Shape 25"/>
          <p:cNvSpPr/>
          <p:nvPr/>
        </p:nvSpPr>
        <p:spPr>
          <a:xfrm>
            <a:off x="8065008" y="2898648"/>
            <a:ext cx="184708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8119872" y="2935224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Balance</a:t>
            </a:r>
            <a:endParaRPr lang="en-US" sz="800" dirty="0"/>
          </a:p>
        </p:txBody>
      </p:sp>
      <p:sp>
        <p:nvSpPr>
          <p:cNvPr id="31" name="Shape 27"/>
          <p:cNvSpPr/>
          <p:nvPr/>
        </p:nvSpPr>
        <p:spPr>
          <a:xfrm>
            <a:off x="9930384" y="2898648"/>
            <a:ext cx="184708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9985248" y="2935224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₹8.5 – ₹11.5 Crore</a:t>
            </a:r>
            <a:endParaRPr lang="en-US" sz="800" dirty="0"/>
          </a:p>
        </p:txBody>
      </p:sp>
      <p:sp>
        <p:nvSpPr>
          <p:cNvPr id="33" name="Shape 29"/>
          <p:cNvSpPr/>
          <p:nvPr/>
        </p:nvSpPr>
        <p:spPr>
          <a:xfrm>
            <a:off x="8065008" y="3401568"/>
            <a:ext cx="1847088" cy="475488"/>
          </a:xfrm>
          <a:prstGeom prst="rect">
            <a:avLst/>
          </a:prstGeom>
          <a:solidFill>
            <a:srgbClr val="FFF3F3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8119872" y="3438144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Credit Score</a:t>
            </a:r>
            <a:endParaRPr lang="en-US" sz="800" dirty="0"/>
          </a:p>
        </p:txBody>
      </p:sp>
      <p:sp>
        <p:nvSpPr>
          <p:cNvPr id="35" name="Shape 31"/>
          <p:cNvSpPr/>
          <p:nvPr/>
        </p:nvSpPr>
        <p:spPr>
          <a:xfrm>
            <a:off x="9930384" y="3401568"/>
            <a:ext cx="1847088" cy="475488"/>
          </a:xfrm>
          <a:prstGeom prst="rect">
            <a:avLst/>
          </a:prstGeom>
          <a:solidFill>
            <a:srgbClr val="FFF3F3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9985248" y="3438144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400</a:t>
            </a:r>
            <a:endParaRPr lang="en-US" sz="800" dirty="0"/>
          </a:p>
        </p:txBody>
      </p:sp>
      <p:sp>
        <p:nvSpPr>
          <p:cNvPr id="37" name="Shape 33"/>
          <p:cNvSpPr/>
          <p:nvPr/>
        </p:nvSpPr>
        <p:spPr>
          <a:xfrm>
            <a:off x="8065008" y="3904488"/>
            <a:ext cx="184708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8119872" y="3941064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Freq.</a:t>
            </a:r>
            <a:endParaRPr lang="en-US" sz="800" dirty="0"/>
          </a:p>
        </p:txBody>
      </p:sp>
      <p:sp>
        <p:nvSpPr>
          <p:cNvPr id="39" name="Shape 35"/>
          <p:cNvSpPr/>
          <p:nvPr/>
        </p:nvSpPr>
        <p:spPr>
          <a:xfrm>
            <a:off x="9930384" y="3904488"/>
            <a:ext cx="184708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9985248" y="3941064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(&lt; 2 txns)</a:t>
            </a:r>
            <a:endParaRPr lang="en-US" sz="800" dirty="0"/>
          </a:p>
        </p:txBody>
      </p:sp>
      <p:sp>
        <p:nvSpPr>
          <p:cNvPr id="41" name="Shape 37"/>
          <p:cNvSpPr/>
          <p:nvPr/>
        </p:nvSpPr>
        <p:spPr>
          <a:xfrm>
            <a:off x="8065008" y="4407408"/>
            <a:ext cx="1847088" cy="475488"/>
          </a:xfrm>
          <a:prstGeom prst="rect">
            <a:avLst/>
          </a:prstGeom>
          <a:solidFill>
            <a:srgbClr val="FFF3F3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8119872" y="4443984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</a:t>
            </a:r>
            <a:endParaRPr lang="en-US" sz="800" dirty="0"/>
          </a:p>
        </p:txBody>
      </p:sp>
      <p:sp>
        <p:nvSpPr>
          <p:cNvPr id="43" name="Shape 39"/>
          <p:cNvSpPr/>
          <p:nvPr/>
        </p:nvSpPr>
        <p:spPr>
          <a:xfrm>
            <a:off x="9930384" y="4407408"/>
            <a:ext cx="1847088" cy="475488"/>
          </a:xfrm>
          <a:prstGeom prst="rect">
            <a:avLst/>
          </a:prstGeom>
          <a:solidFill>
            <a:srgbClr val="FFF3F3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9985248" y="4443984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/ Dormant</a:t>
            </a:r>
            <a:endParaRPr lang="en-US" sz="800" dirty="0"/>
          </a:p>
        </p:txBody>
      </p:sp>
      <p:sp>
        <p:nvSpPr>
          <p:cNvPr id="45" name="Shape 41"/>
          <p:cNvSpPr/>
          <p:nvPr/>
        </p:nvSpPr>
        <p:spPr>
          <a:xfrm>
            <a:off x="8065008" y="4910328"/>
            <a:ext cx="184708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8119872" y="4946904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Group</a:t>
            </a:r>
            <a:endParaRPr lang="en-US" sz="800" dirty="0"/>
          </a:p>
        </p:txBody>
      </p:sp>
      <p:sp>
        <p:nvSpPr>
          <p:cNvPr id="47" name="Shape 43"/>
          <p:cNvSpPr/>
          <p:nvPr/>
        </p:nvSpPr>
        <p:spPr>
          <a:xfrm>
            <a:off x="9930384" y="4910328"/>
            <a:ext cx="184708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9985248" y="4946904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35–44 (primarily)</a:t>
            </a:r>
            <a:endParaRPr lang="en-US" sz="800" dirty="0"/>
          </a:p>
        </p:txBody>
      </p:sp>
      <p:sp>
        <p:nvSpPr>
          <p:cNvPr id="49" name="Shape 45"/>
          <p:cNvSpPr/>
          <p:nvPr/>
        </p:nvSpPr>
        <p:spPr>
          <a:xfrm>
            <a:off x="8065008" y="5413248"/>
            <a:ext cx="1847088" cy="475488"/>
          </a:xfrm>
          <a:prstGeom prst="rect">
            <a:avLst/>
          </a:prstGeom>
          <a:solidFill>
            <a:srgbClr val="FFF3F3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8119872" y="5449824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Action</a:t>
            </a:r>
            <a:endParaRPr lang="en-US" sz="900" dirty="0"/>
          </a:p>
        </p:txBody>
      </p:sp>
      <p:sp>
        <p:nvSpPr>
          <p:cNvPr id="51" name="Shape 47"/>
          <p:cNvSpPr/>
          <p:nvPr/>
        </p:nvSpPr>
        <p:spPr>
          <a:xfrm>
            <a:off x="9930384" y="5413248"/>
            <a:ext cx="1847088" cy="475488"/>
          </a:xfrm>
          <a:prstGeom prst="rect">
            <a:avLst/>
          </a:prstGeom>
          <a:solidFill>
            <a:srgbClr val="FFF3F3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2" name="Text 48"/>
          <p:cNvSpPr/>
          <p:nvPr/>
        </p:nvSpPr>
        <p:spPr>
          <a:xfrm>
            <a:off x="9985248" y="5449824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Review</a:t>
            </a:r>
            <a:endParaRPr lang="en-US" sz="900" dirty="0"/>
          </a:p>
        </p:txBody>
      </p:sp>
      <p:sp>
        <p:nvSpPr>
          <p:cNvPr id="53" name="Shape 49"/>
          <p:cNvSpPr/>
          <p:nvPr/>
        </p:nvSpPr>
        <p:spPr>
          <a:xfrm>
            <a:off x="457200" y="5074920"/>
            <a:ext cx="11338560" cy="4572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54" name="Text 50"/>
          <p:cNvSpPr/>
          <p:nvPr/>
        </p:nvSpPr>
        <p:spPr>
          <a:xfrm>
            <a:off x="594360" y="5102352"/>
            <a:ext cx="11064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🔽 SLICERS AVAILABLE: Credit Score Range  |  Risk Level  |  Value Score  |  Segment  |  Drill-through to individual customer profiles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 — RISK &amp; PROFITABILITY  ·  Key Insights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21792"/>
            <a:ext cx="11430000" cy="18288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04672"/>
            <a:ext cx="55778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628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04672"/>
            <a:ext cx="73152" cy="265176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9418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⚠️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149047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132K High-Risk Accounts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1947672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 of the customer base is classified as high-risk. These accounts exhibit low credit scores (&lt; 400) combined with large account balances, creating concentrated financial exposure. Immediate risk management protocols are required.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26480" y="804672"/>
            <a:ext cx="55778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126480" y="804672"/>
            <a:ext cx="73152" cy="26517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9418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355080" y="149047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Score Segment Correlation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355080" y="1947672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 customers average credit score of 590 — 23% higher than Lost customers (480). This validates the model: customers who transact frequently and recently are financially healthier and less likely to default.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3685032"/>
            <a:ext cx="55778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3685032"/>
            <a:ext cx="73152" cy="26517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8221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💎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48640" y="437083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High-Revenue, High-Risk Paradox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4828032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dangerous accounts are the Top 10 high-revenue but high-risk customers. These accounts generate significant transaction value but carry balance-to-risk ratios that pose systemic exposure. A dedicated relationship manager review is advised.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26480" y="3685032"/>
            <a:ext cx="55778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9A82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26480" y="3685032"/>
            <a:ext cx="73152" cy="265176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0" y="38221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🏧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355080" y="437083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Balance-to-Risk Pattern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355080" y="4828032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customers tend to hold extremely high account balances (₹8–12 Crore range) but transact infrequently — a behavioral pattern suggesting dormant high-value accounts. These represent both a revenue recovery opportunity and a fraud risk.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Intelligence Across All Four Analytical Pillars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5577840" cy="2514600"/>
          </a:xfrm>
          <a:prstGeom prst="rect">
            <a:avLst/>
          </a:prstGeom>
          <a:solidFill>
            <a:srgbClr val="0D2244"/>
          </a:solidFill>
          <a:ln w="12700">
            <a:solidFill>
              <a:srgbClr val="1E88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51560"/>
            <a:ext cx="5577840" cy="41148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5156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554480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86% of customers are 25–34 — prime digital banking demographic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212848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 male base = untapped female market opportunity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871216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cities = 30% of all customers → clear Tier-1 focus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26480" y="1051560"/>
            <a:ext cx="5577840" cy="2514600"/>
          </a:xfrm>
          <a:prstGeom prst="rect">
            <a:avLst/>
          </a:prstGeom>
          <a:solidFill>
            <a:srgbClr val="0D2244"/>
          </a:solidFill>
          <a:ln w="1270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26480" y="1051560"/>
            <a:ext cx="5577840" cy="4114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63640" y="105156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BEHAVIOR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263640" y="1554480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2016 peak = 68% more volume than September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63640" y="2212848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₹459 median vs ₹1,574 mean → extreme transaction skew from HNIs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263640" y="2871216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Older customers (35–44) transact 42% higher values on average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840480"/>
            <a:ext cx="5577840" cy="2514600"/>
          </a:xfrm>
          <a:prstGeom prst="rect">
            <a:avLst/>
          </a:prstGeom>
          <a:solidFill>
            <a:srgbClr val="0D2244"/>
          </a:solidFill>
          <a:ln w="12700">
            <a:solidFill>
              <a:srgbClr val="F9A82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840480"/>
            <a:ext cx="5577840" cy="41148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84048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343400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Critical: 77.1% of customers are Lost — churn crisis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5001768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 20.3% generates nearly equal revenue to 77.1% Lost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5660136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segment (2.6%) is the growth pipeline — nurture urgently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26480" y="3840480"/>
            <a:ext cx="5577840" cy="2514600"/>
          </a:xfrm>
          <a:prstGeom prst="rect">
            <a:avLst/>
          </a:prstGeom>
          <a:solidFill>
            <a:srgbClr val="0D2244"/>
          </a:solidFill>
          <a:ln w="12700">
            <a:solidFill>
              <a:srgbClr val="C628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26480" y="3840480"/>
            <a:ext cx="5577840" cy="41148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63640" y="384048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PROFITABILITY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63640" y="4343400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 high-risk accounts require immediate executive review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63640" y="5001768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 customers credit score 23% higher than Lost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63640" y="5660136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Dormant high-balance accounts = fraud + liquidity risk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Data to Strategic Intelligence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Business Intelligence solution successfully transforms 1.04 million unstructured bank transactions into a comprehensive, executive-grade analytical platform. The four-pillar analysis reveals critical realities about the bank's customer base: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874520"/>
            <a:ext cx="11521440" cy="749808"/>
          </a:xfrm>
          <a:prstGeom prst="rect">
            <a:avLst/>
          </a:prstGeom>
          <a:solidFill>
            <a:srgbClr val="0D2244"/>
          </a:solidFill>
          <a:ln w="12700">
            <a:solidFill>
              <a:srgbClr val="1E88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938528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1920240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predominantly young (25–34), urban male customer base with significant growth opportunity in female and Tier-2/3 markets.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" y="2743200"/>
            <a:ext cx="11521440" cy="749808"/>
          </a:xfrm>
          <a:prstGeom prst="rect">
            <a:avLst/>
          </a:prstGeom>
          <a:solidFill>
            <a:srgbClr val="0D2244"/>
          </a:solidFill>
          <a:ln w="12700">
            <a:solidFill>
              <a:srgbClr val="1E88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2807208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05840" y="2788920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behavior shows strong seasonal patterns and a clear HNI population driving disproportionate value — requiring differentiated service models.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3611880"/>
            <a:ext cx="11521440" cy="749808"/>
          </a:xfrm>
          <a:prstGeom prst="rect">
            <a:avLst/>
          </a:prstGeom>
          <a:solidFill>
            <a:srgbClr val="0D2244"/>
          </a:solidFill>
          <a:ln w="12700">
            <a:solidFill>
              <a:srgbClr val="1E88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3675888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5840" y="3657600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77% churn rate represents the single greatest strategic threat — and the single greatest recovery opportunity — facing the bank today.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4480560"/>
            <a:ext cx="11521440" cy="749808"/>
          </a:xfrm>
          <a:prstGeom prst="rect">
            <a:avLst/>
          </a:prstGeom>
          <a:solidFill>
            <a:srgbClr val="0D2244"/>
          </a:solidFill>
          <a:ln w="12700">
            <a:solidFill>
              <a:srgbClr val="1E88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" y="4544568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05840" y="4526280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 of accounts are high-risk with dormant high-balance profiles — systemic exposure that requires proactive risk management, not reactive response.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" y="5349240"/>
            <a:ext cx="11521440" cy="749808"/>
          </a:xfrm>
          <a:prstGeom prst="rect">
            <a:avLst/>
          </a:prstGeom>
          <a:solidFill>
            <a:srgbClr val="0D2244"/>
          </a:solidFill>
          <a:ln w="12700">
            <a:solidFill>
              <a:srgbClr val="1E88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7200" y="5413248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05840" y="5394960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RFM + Credit Simulation engine provides the bank with an automated, scalable intelligence layer — replacing manual, siloed reporting with dynamic decision support.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 –  Strategic Next Steps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21792"/>
            <a:ext cx="11430000" cy="18288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777240"/>
            <a:ext cx="115214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C628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777240"/>
            <a:ext cx="1371600" cy="107899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777240"/>
            <a:ext cx="13716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828800" y="832104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Re-Engage Lost Customers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828800" y="1179576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a data-driven win-back campaign targeting 682K lost customers. Use RFM sub-scores to prioritize previously high-monetary customers. Offer personalized incentives based on last transaction behavior.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823960" y="941832"/>
            <a:ext cx="2926080" cy="65836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0" y="960120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Recover 10% → +68K active customers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0040" y="1965960"/>
            <a:ext cx="115214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F9A82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1965960"/>
            <a:ext cx="1371600" cy="107899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965960"/>
            <a:ext cx="13716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828800" y="2020824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Risk Management Protocol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828800" y="2368296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Immediately review the 132K high-risk accounts. Assign dedicated relationship managers to Top 10 high-revenue/high-risk accounts. Implement automated alerts when dormant accounts show sudden activity.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823960" y="2130552"/>
            <a:ext cx="2926080" cy="65836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69680" y="2148840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mitigation: Protect ₹1B+ in concentrated deposits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20040" y="3154680"/>
            <a:ext cx="115214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154680"/>
            <a:ext cx="1371600" cy="107899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154680"/>
            <a:ext cx="13716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828800" y="3209544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Nurture New Customer Pipeline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828800" y="3557016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 90-day onboarding journey for 23K new customers. Use behavioral triggers to recommend products matching their transaction patterns. Aim to convert 30% to loyal status within 6 months.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823960" y="3319272"/>
            <a:ext cx="2926080" cy="6583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869680" y="3337560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6,900 new loyal customers in 90 days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20040" y="4343400"/>
            <a:ext cx="115214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4343400"/>
            <a:ext cx="1371600" cy="107899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4343400"/>
            <a:ext cx="13716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828800" y="4398264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Female &amp; Tier-2 Acquisition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828800" y="4745736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targeted campaigns for the underserved female demographic (27% of base). Launch geo-targeted acquisition in Tier-2 and Tier-3 cities where growth is unconstrained by competition.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8823960" y="4507992"/>
            <a:ext cx="2926080" cy="65836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869680" y="4526280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+20% female customer share in 12 months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20040" y="5532120"/>
            <a:ext cx="115214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7B1FA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0040" y="5532120"/>
            <a:ext cx="1371600" cy="1078992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" y="5532120"/>
            <a:ext cx="13716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828800" y="5586984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Time-Based Operations Optimization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828800" y="5934456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transaction time heatmaps to align branch staffing and call center capacity with peak hours. Implement dynamic fraud detection thresholds based on time-of-day behavioral baselines.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8823960" y="5696712"/>
            <a:ext cx="2926080" cy="658368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869680" y="5715000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Efficiency: 15–20% cost reduction in peak staffing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Bank Customer Analytics – BI Solution</dc:title>
  <dc:subject>PptxGenJS Presentation</dc:subject>
  <dc:creator>PptxGenJS</dc:creator>
  <cp:lastModifiedBy>PptxGenJS</cp:lastModifiedBy>
  <cp:revision>1</cp:revision>
  <dcterms:created xsi:type="dcterms:W3CDTF">2026-05-19T10:10:07Z</dcterms:created>
  <dcterms:modified xsi:type="dcterms:W3CDTF">2026-05-19T10:10:07Z</dcterms:modified>
</cp:coreProperties>
</file>